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63040"/>
            <a:ext cx="4333360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3832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780000"/>
                </a:solidFill>
              </a:defRPr>
            </a:pPr>
            <a:r>
              <a:t>Stone Gate</a:t>
            </a:r>
          </a:p>
          <a:p>
            <a:pPr algn="l">
              <a:defRPr sz="1800">
                <a:solidFill>
                  <a:srgbClr val="6B6B6B"/>
                </a:solidFill>
              </a:defRPr>
            </a:pPr>
            <a:r>
              <a:t>An AI investment committee, in software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B6B6B"/>
                </a:solidFill>
              </a:defRPr>
            </a:pPr>
            <a:r>
              <a:t>Platform overview · for principals, analysts, and decision-makers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The problem we 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Diligence on a single real-estate deal eats weeks of analyst time — reading PDFs, extracting metrics by hand, chasing down gaps.</a:t>
            </a:r>
          </a:p>
          <a:p>
            <a:pPr>
              <a:spcAft>
                <a:spcPts val="800"/>
              </a:spcAft>
              <a:defRPr sz="1500"/>
            </a:pPr>
            <a:r>
              <a:t>•  Most of that work is repetitive: every deal needs the same shape of IC memo, the same risk taxonomy, the same scenarios.</a:t>
            </a:r>
          </a:p>
          <a:p>
            <a:pPr>
              <a:spcAft>
                <a:spcPts val="800"/>
              </a:spcAft>
              <a:defRPr sz="1500"/>
            </a:pPr>
            <a:r>
              <a:t>•  Findings end up scattered across spreadsheets and email threads. The audit trail is thin and the institutional memory is in people's heads.</a:t>
            </a:r>
          </a:p>
          <a:p>
            <a:pPr>
              <a:spcAft>
                <a:spcPts val="800"/>
              </a:spcAft>
              <a:defRPr sz="1500"/>
            </a:pPr>
            <a:r>
              <a:t>•  When a deal is reviewed at IC, contradictions or missing pieces only surface in the room — too late to do anything about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What Stone Gate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A local-first platform that takes a data room as input and produces an IC-ready recommendation as output.</a:t>
            </a:r>
          </a:p>
          <a:p>
            <a:pPr>
              <a:spcAft>
                <a:spcPts val="800"/>
              </a:spcAft>
              <a:defRPr sz="1500"/>
            </a:pPr>
            <a:r>
              <a:t>•  Built around a team of AI specialists — each one focused on a specific kind of analysis (financials, risks, market, gaps).</a:t>
            </a:r>
          </a:p>
          <a:p>
            <a:pPr>
              <a:spcAft>
                <a:spcPts val="800"/>
              </a:spcAft>
              <a:defRPr sz="1500"/>
            </a:pPr>
            <a:r>
              <a:t>•  Every claim is sourced back to the underlying document, page, and paragraph. Nothing is invented; nothing is unverifiable.</a:t>
            </a:r>
          </a:p>
          <a:p>
            <a:pPr>
              <a:spcAft>
                <a:spcPts val="800"/>
              </a:spcAft>
              <a:defRPr sz="1500"/>
            </a:pPr>
            <a:r>
              <a:t>•  Designed for a single firm. Confidential data stays on your machines — only the outbound model calls leave the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The investment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6B6B"/>
                </a:solidFill>
              </a:defRPr>
            </a:pPr>
            <a:r>
              <a:t>Six stages, each with a clear gate. The platform tells you where you are and what's missing.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72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Context — capture the briefing, the client mandate, the deal facts.</a:t>
            </a:r>
          </a:p>
          <a:p>
            <a:pPr>
              <a:spcAft>
                <a:spcPts val="800"/>
              </a:spcAft>
              <a:defRPr sz="1500"/>
            </a:pPr>
            <a:r>
              <a:t>•  Initial Screening — upload the data room; documents get classified and processed.</a:t>
            </a:r>
          </a:p>
          <a:p>
            <a:pPr>
              <a:spcAft>
                <a:spcPts val="800"/>
              </a:spcAft>
              <a:defRPr sz="1500"/>
            </a:pPr>
            <a:r>
              <a:t>•  Understanding — the AI team analyzes; outputs the thesis, financial verdict, risks, gaps, market check, and a synthesis verdict.</a:t>
            </a:r>
          </a:p>
          <a:p>
            <a:pPr>
              <a:spcAft>
                <a:spcPts val="800"/>
              </a:spcAft>
              <a:defRPr sz="1500"/>
            </a:pPr>
            <a:r>
              <a:t>•  CIO Review — the principal explores via chat, runs scenarios, stress-tests.</a:t>
            </a:r>
          </a:p>
          <a:p>
            <a:pPr>
              <a:spcAft>
                <a:spcPts val="800"/>
              </a:spcAft>
              <a:defRPr sz="1500"/>
            </a:pPr>
            <a:r>
              <a:t>•  Recommendation — generate the IC memo, executive summary, and presentation deck; record the decision.</a:t>
            </a:r>
          </a:p>
          <a:p>
            <a:pPr>
              <a:spcAft>
                <a:spcPts val="800"/>
              </a:spcAft>
              <a:defRPr sz="1500"/>
            </a:pPr>
            <a:r>
              <a:t>•  Monitoring — once approved, track performance against the underwriting.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Meet the AI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6B6B"/>
                </a:solidFill>
              </a:defRPr>
            </a:pPr>
            <a:r>
              <a:t>Six specialists. Each one has a single job and a calibrated rubric.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72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Thesis Writer — drafts the investment story, scores opportunity / risk / confidence.</a:t>
            </a:r>
          </a:p>
          <a:p>
            <a:pPr>
              <a:spcAft>
                <a:spcPts val="800"/>
              </a:spcAft>
              <a:defRPr sz="1500"/>
            </a:pPr>
            <a:r>
              <a:t>•  Risk Analyst — enumerates risks across 11 categories, severity-ranked with mitigations.</a:t>
            </a:r>
          </a:p>
          <a:p>
            <a:pPr>
              <a:spcAft>
                <a:spcPts val="800"/>
              </a:spcAft>
              <a:defRPr sz="1500"/>
            </a:pPr>
            <a:r>
              <a:t>•  Gap Agent — flags missing diligence items and scores IC-readiness.</a:t>
            </a:r>
          </a:p>
          <a:p>
            <a:pPr>
              <a:spcAft>
                <a:spcPts val="800"/>
              </a:spcAft>
              <a:defRPr sz="1500"/>
            </a:pPr>
            <a:r>
              <a:t>•  Market Researcher — independently validates the sponsor's market thesis against public data, with web search.</a:t>
            </a:r>
          </a:p>
          <a:p>
            <a:pPr>
              <a:spcAft>
                <a:spcPts val="800"/>
              </a:spcAft>
              <a:defRPr sz="1500"/>
            </a:pPr>
            <a:r>
              <a:t>•  Financial Analyst — pressure-tests the numbers; produces a verdict, sensitivities, weak-assumption callouts.</a:t>
            </a:r>
          </a:p>
          <a:p>
            <a:pPr>
              <a:spcAft>
                <a:spcPts val="800"/>
              </a:spcAft>
              <a:defRPr sz="1500"/>
            </a:pPr>
            <a:r>
              <a:t>•  Synthesis Agent — reads everyone's findings; produces the final AI recommendation and rationale.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How an Analyze run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The first four agents work in parallel — like four analysts assigned to the same deal at the same time.</a:t>
            </a:r>
          </a:p>
          <a:p>
            <a:pPr>
              <a:spcAft>
                <a:spcPts val="800"/>
              </a:spcAft>
              <a:defRPr sz="1500"/>
            </a:pPr>
            <a:r>
              <a:t>•  Once they're done, the Financial Analyst takes over — it sees what the others found and pressure-tests the numbers against the risks and market findings.</a:t>
            </a:r>
          </a:p>
          <a:p>
            <a:pPr>
              <a:spcAft>
                <a:spcPts val="800"/>
              </a:spcAft>
              <a:defRPr sz="1500"/>
            </a:pPr>
            <a:r>
              <a:t>•  Finally, the Synthesis Agent reads everything and writes the institutional verdict — PROCEED, REJECT, or NEED MORE INFO — with reasons for and against.</a:t>
            </a:r>
          </a:p>
          <a:p>
            <a:pPr>
              <a:spcAft>
                <a:spcPts val="800"/>
              </a:spcAft>
              <a:defRPr sz="1500"/>
            </a:pPr>
            <a:r>
              <a:t>•  Total time: roughly 100 seconds. Total cost: about $3–4 in model calls.</a:t>
            </a:r>
          </a:p>
          <a:p>
            <a:pPr>
              <a:spcAft>
                <a:spcPts val="800"/>
              </a:spcAft>
              <a:defRPr sz="1500"/>
            </a:pPr>
            <a:r>
              <a:t>•  If you only want to update the financial view (e.g., after tightening the prompt), there's a 30-second "financials-only" re-run that costs about $1.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What the analyst sees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A single Understanding page with collapsible sections: Scores → AI Recommendation → Thesis → Market Research → Financials → Risks → Gaps → Reports.</a:t>
            </a:r>
          </a:p>
          <a:p>
            <a:pPr>
              <a:spcAft>
                <a:spcPts val="800"/>
              </a:spcAft>
              <a:defRPr sz="1500"/>
            </a:pPr>
            <a:r>
              <a:t>•  Every claim links back to the source document with a citation chip (chunk + page).</a:t>
            </a:r>
          </a:p>
          <a:p>
            <a:pPr>
              <a:spcAft>
                <a:spcPts val="800"/>
              </a:spcAft>
              <a:defRPr sz="1500"/>
            </a:pPr>
            <a:r>
              <a:t>•  The Financials section is itself a mini-memo: verdict pill, narrative paragraphs, headline metrics, sensitivities, weak-assumption callouts.</a:t>
            </a:r>
          </a:p>
          <a:p>
            <a:pPr>
              <a:spcAft>
                <a:spcPts val="800"/>
              </a:spcAft>
              <a:defRPr sz="1500"/>
            </a:pPr>
            <a:r>
              <a:t>•  The Risks table is filterable by Category and Severity; a heatmap above shows the distribution at a glance.</a:t>
            </a:r>
          </a:p>
          <a:p>
            <a:pPr>
              <a:spcAft>
                <a:spcPts val="800"/>
              </a:spcAft>
              <a:defRPr sz="1500"/>
            </a:pPr>
            <a:r>
              <a:t>•  Filters are instant. No round-trips. Everything is keyboard-friendly.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Reports &amp; exports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IC Memorandum — a full 12–15 page institutional memo (PDF), with executive summary, thesis, financial analysis, risks, market analysis, recommendation.</a:t>
            </a:r>
          </a:p>
          <a:p>
            <a:pPr>
              <a:spcAft>
                <a:spcPts val="800"/>
              </a:spcAft>
              <a:defRPr sz="1500"/>
            </a:pPr>
            <a:r>
              <a:t>•  Executive Summary — a tight 2–3 page principal brief (PDF), focused on the verdict and the three things that matter most.</a:t>
            </a:r>
          </a:p>
          <a:p>
            <a:pPr>
              <a:spcAft>
                <a:spcPts val="800"/>
              </a:spcAft>
              <a:defRPr sz="1500"/>
            </a:pPr>
            <a:r>
              <a:t>•  IC Presentation Deck — a 14-slide deck (PowerPoint) covering economics, financial verdict, sensitivities, top risks, bull/base/bear, AI verdict, next steps.</a:t>
            </a:r>
          </a:p>
          <a:p>
            <a:pPr>
              <a:spcAft>
                <a:spcPts val="800"/>
              </a:spcAft>
              <a:defRPr sz="1500"/>
            </a:pPr>
            <a:r>
              <a:t>•  All three are generated from the same underlying analysis, so they're always internally consistent.</a:t>
            </a:r>
          </a:p>
          <a:p>
            <a:pPr>
              <a:spcAft>
                <a:spcPts val="800"/>
              </a:spcAft>
              <a:defRPr sz="1500"/>
            </a:pPr>
            <a:r>
              <a:t>•  The same Stone Gate brand on all three — maroon header band, white body, sourced citations.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Chat with the deal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An Insights chat panel on every opportunity — ask anything in plain English: "what are the top three risks?", "what happens if the exit cap widens to 6.5%?".</a:t>
            </a:r>
          </a:p>
          <a:p>
            <a:pPr>
              <a:spcAft>
                <a:spcPts val="800"/>
              </a:spcAft>
              <a:defRPr sz="1500"/>
            </a:pPr>
            <a:r>
              <a:t>•  The chat is grounded in the documents you uploaded. Every answer cites the source.</a:t>
            </a:r>
          </a:p>
          <a:p>
            <a:pPr>
              <a:spcAft>
                <a:spcPts val="800"/>
              </a:spcAft>
              <a:defRPr sz="1500"/>
            </a:pPr>
            <a:r>
              <a:t>•  The system routes the question to the right specialist — risk questions go to the Risk Analyst, financial questions go to the Financial Analyst, and so on.</a:t>
            </a:r>
          </a:p>
          <a:p>
            <a:pPr>
              <a:spcAft>
                <a:spcPts val="800"/>
              </a:spcAft>
              <a:defRPr sz="1500"/>
            </a:pPr>
            <a:r>
              <a:t>•  Long threads get summarized and folded back into the opportunity's memory, so you don't have to re-explain context next week.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Document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Upload PDFs, Excel models, decks, Word docs, emails, even ZIPs — all handled.</a:t>
            </a:r>
          </a:p>
          <a:p>
            <a:pPr>
              <a:spcAft>
                <a:spcPts val="800"/>
              </a:spcAft>
              <a:defRPr sz="1500"/>
            </a:pPr>
            <a:r>
              <a:t>•  Each document is classified ("financial model", "market study", "legal", etc.) and broken into searchable chunks.</a:t>
            </a:r>
          </a:p>
          <a:p>
            <a:pPr>
              <a:spcAft>
                <a:spcPts val="800"/>
              </a:spcAft>
              <a:defRPr sz="1500"/>
            </a:pPr>
            <a:r>
              <a:t>•  Scanned PDFs get OCR automatically; image-only files are extracted as best they can be.</a:t>
            </a:r>
          </a:p>
          <a:p>
            <a:pPr>
              <a:spcAft>
                <a:spcPts val="800"/>
              </a:spcAft>
              <a:defRPr sz="1500"/>
            </a:pPr>
            <a:r>
              <a:t>•  Every chunk is embedded and indexed, so retrieval is semantic — "capital structure" finds the right paragraph even if the deck called it "funding stack".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Security &amp; privacy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Local-first: everything persists on your hardware. There is no SaaS backend.</a:t>
            </a:r>
          </a:p>
          <a:p>
            <a:pPr>
              <a:spcAft>
                <a:spcPts val="800"/>
              </a:spcAft>
              <a:defRPr sz="1500"/>
            </a:pPr>
            <a:r>
              <a:t>•  Document blobs encrypted at rest with AES-256-GCM, per-blob nonces, master key in the local .env.</a:t>
            </a:r>
          </a:p>
          <a:p>
            <a:pPr>
              <a:spcAft>
                <a:spcPts val="800"/>
              </a:spcAft>
              <a:defRPr sz="1500"/>
            </a:pPr>
            <a:r>
              <a:t>•  Role-based access — Principal, Analyst, Director of Acquisitions, Compliance, Admin — with a full audit trail on every action.</a:t>
            </a:r>
          </a:p>
          <a:p>
            <a:pPr>
              <a:spcAft>
                <a:spcPts val="800"/>
              </a:spcAft>
              <a:defRPr sz="1500"/>
            </a:pPr>
            <a:r>
              <a:t>•  Only outbound traffic: anonymous API calls to Anthropic (with prompt caching to minimize what gets sent and to control cost).</a:t>
            </a:r>
          </a:p>
          <a:p>
            <a:pPr>
              <a:spcAft>
                <a:spcPts val="800"/>
              </a:spcAft>
              <a:defRPr sz="1500"/>
            </a:pPr>
            <a:r>
              <a:t>•  Backup and restore scripts ship in the repo. Daily Postgres dumps + blob archives, retention configurable.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Where we are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Foundation, MVP and V1 features are live: ingestion, multi-agent analysis, financial deep-read, IC memo / exec summary / deck generation, chat with citations.</a:t>
            </a:r>
          </a:p>
          <a:p>
            <a:pPr>
              <a:spcAft>
                <a:spcPts val="800"/>
              </a:spcAft>
              <a:defRPr sz="1500"/>
            </a:pPr>
            <a:r>
              <a:t>•  Telemetry on every model call — token counts, cache hits, cost, latency — so you can see exactly what each Analyze cost.</a:t>
            </a:r>
          </a:p>
          <a:p>
            <a:pPr>
              <a:spcAft>
                <a:spcPts val="800"/>
              </a:spcAft>
              <a:defRPr sz="1500"/>
            </a:pPr>
            <a:r>
              <a:t>•  Backup tooling and INSTALL documentation ready for deployment on a second machine.</a:t>
            </a:r>
          </a:p>
          <a:p>
            <a:pPr>
              <a:spcAft>
                <a:spcPts val="800"/>
              </a:spcAft>
              <a:defRPr sz="1500"/>
            </a:pPr>
            <a:r>
              <a:t>•  Code is version-controlled, off-machine, and recoverable in under 30 minutes on a clean machine.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Portfolio overlap &amp; exposure — surface conflicts and concentration before they become problems.</a:t>
            </a:r>
          </a:p>
          <a:p>
            <a:pPr>
              <a:spcAft>
                <a:spcPts val="800"/>
              </a:spcAft>
              <a:defRPr sz="1500"/>
            </a:pPr>
            <a:r>
              <a:t>•  Monte Carlo and cognitive-bias warnings — quantify uncertainty in the underwriting.</a:t>
            </a:r>
          </a:p>
          <a:p>
            <a:pPr>
              <a:spcAft>
                <a:spcPts val="800"/>
              </a:spcAft>
              <a:defRPr sz="1500"/>
            </a:pPr>
            <a:r>
              <a:t>•  Prompt versioning and A/B harness — measure analyst-grade improvements over time.</a:t>
            </a:r>
          </a:p>
          <a:p>
            <a:pPr>
              <a:spcAft>
                <a:spcPts val="800"/>
              </a:spcAft>
              <a:defRPr sz="1500"/>
            </a:pPr>
            <a:r>
              <a:t>•  CRM and PMS integrations — bidirectional sync with Salesforce, HubSpot, and your portfolio management system.</a:t>
            </a:r>
          </a:p>
          <a:p>
            <a:pPr>
              <a:spcAft>
                <a:spcPts val="800"/>
              </a:spcAft>
              <a:defRPr sz="1500"/>
            </a:pPr>
            <a:r>
              <a:t>•  Cloud single-tenant deployment for firms that prefer it over local-first.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one-g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6126480"/>
            <a:ext cx="140196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80215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Stone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972800" cy="32004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0000"/>
                </a:solidFill>
              </a:defRPr>
            </a:pPr>
            <a:r>
              <a:t>Faster diligence. Defensible decisions. Institutional memory.</a:t>
            </a:r>
          </a:p>
          <a:p>
            <a:pPr>
              <a:spcBef>
                <a:spcPts val="1000"/>
              </a:spcBef>
              <a:defRPr sz="1600">
                <a:solidFill>
                  <a:srgbClr val="6B6B6B"/>
                </a:solidFill>
              </a:defRPr>
            </a:pPr>
            <a:r>
              <a:t>Ready to use today, designed to keep improving.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